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64592" cy="164592"/>
          </a:xfrm>
          <a:prstGeom prst="rect">
            <a:avLst/>
          </a:prstGeom>
          <a:solidFill>
            <a:srgbClr val="B9975B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1371600"/>
            <a:ext cx="164592" cy="164592"/>
          </a:xfrm>
          <a:prstGeom prst="rect">
            <a:avLst/>
          </a:prstGeom>
          <a:solidFill>
            <a:srgbClr val="9A7C42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371600"/>
            <a:ext cx="164592" cy="164592"/>
          </a:xfrm>
          <a:prstGeom prst="rect">
            <a:avLst/>
          </a:prstGeom>
          <a:solidFill>
            <a:srgbClr val="3B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TECHNOLOGY  ·  DATA PLATFORM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+ dbt Platform Architecture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runtime on Kubernetes  ·  three Jenkins pipelines  ·  git-sync auto-deployment  ·  Splunk + CP 360 observability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14355C"/>
          </a:solidFill>
          <a:ln w="12700">
            <a:solidFill>
              <a:srgbClr val="2650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4398264"/>
            <a:ext cx="502920" cy="502920"/>
          </a:xfrm>
          <a:prstGeom prst="ellipse">
            <a:avLst/>
          </a:prstGeom>
          <a:solidFill>
            <a:srgbClr val="1E4A7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60" y="4534052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44805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50566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Airflow on Kubernetes — pod-per-instance, Celery execution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0" y="4160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14355C"/>
          </a:solidFill>
          <a:ln w="12700">
            <a:solidFill>
              <a:srgbClr val="2650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30752" y="4398264"/>
            <a:ext cx="502920" cy="502920"/>
          </a:xfrm>
          <a:prstGeom prst="ellipse">
            <a:avLst/>
          </a:prstGeom>
          <a:solidFill>
            <a:srgbClr val="1E4A7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540" y="4534052"/>
            <a:ext cx="231343" cy="231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70832" y="44805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30752" y="50566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Jenkins pipelines — image, developer space, guardrails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0" y="4160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14355C"/>
          </a:solidFill>
          <a:ln w="12700">
            <a:solidFill>
              <a:srgbClr val="26507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56832" y="4398264"/>
            <a:ext cx="502920" cy="502920"/>
          </a:xfrm>
          <a:prstGeom prst="ellipse">
            <a:avLst/>
          </a:prstGeom>
          <a:solidFill>
            <a:srgbClr val="1E4A7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20" y="4534052"/>
            <a:ext cx="231343" cy="231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96912" y="44805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656832" y="50566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pod — approved code auto-deployed to QC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326880" y="4160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14355C"/>
          </a:solidFill>
          <a:ln w="12700">
            <a:solidFill>
              <a:srgbClr val="26507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82912" y="4398264"/>
            <a:ext cx="502920" cy="502920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700" y="4534052"/>
            <a:ext cx="231343" cy="23134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222992" y="44805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582912" y="50566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monitoring — Splunk and CP 360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QC RUNTIME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Airflow instance per team — each running as its own pods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Airflow for every team means contention — a heavy DAG, failure, or upgrade in one team disrupts all the others.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isolation: each team gets its own Airflow instance with dedicated scheduler, webserver, and worker pods on OpenShift.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31136"/>
            <a:ext cx="11091672" cy="2971800"/>
          </a:xfrm>
          <a:prstGeom prst="roundRect">
            <a:avLst>
              <a:gd name="adj" fmla="val 2769"/>
            </a:avLst>
          </a:prstGeom>
          <a:solidFill>
            <a:srgbClr val="EAF0F7"/>
          </a:solidFill>
          <a:ln w="15875">
            <a:solidFill>
              <a:srgbClr val="0A224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22960" y="2359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· QC CLUSTER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688336"/>
            <a:ext cx="34015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7121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99032" y="28163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69848" y="3255264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325526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queues tasks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069848" y="3694176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69417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1069848" y="4133088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413308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×N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execute tasks in parallel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1069848" y="4572000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DAG code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562856" y="2688336"/>
            <a:ext cx="34015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87121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93208" y="28163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B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4764024" y="3255264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82896" y="325526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queues tasks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4764024" y="3694176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82896" y="369417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80" dirty="0"/>
          </a:p>
        </p:txBody>
      </p:sp>
      <p:sp>
        <p:nvSpPr>
          <p:cNvPr id="28" name="Shape 24"/>
          <p:cNvSpPr/>
          <p:nvPr/>
        </p:nvSpPr>
        <p:spPr>
          <a:xfrm>
            <a:off x="4764024" y="4133088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82896" y="413308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×N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execute tasks in parallel</a:t>
            </a:r>
            <a:endParaRPr lang="en-US" sz="980" dirty="0"/>
          </a:p>
        </p:txBody>
      </p:sp>
      <p:sp>
        <p:nvSpPr>
          <p:cNvPr id="30" name="Shape 26"/>
          <p:cNvSpPr/>
          <p:nvPr/>
        </p:nvSpPr>
        <p:spPr>
          <a:xfrm>
            <a:off x="4764024" y="4572000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82896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DAG code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8257032" y="2688336"/>
            <a:ext cx="34015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871216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87384" y="28163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Instance — Team N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8458200" y="3255264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77072" y="3255264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parses DAGs, queues tasks</a:t>
            </a:r>
            <a:endParaRPr lang="en-US" sz="980" dirty="0"/>
          </a:p>
        </p:txBody>
      </p:sp>
      <p:sp>
        <p:nvSpPr>
          <p:cNvPr id="37" name="Shape 32"/>
          <p:cNvSpPr/>
          <p:nvPr/>
        </p:nvSpPr>
        <p:spPr>
          <a:xfrm>
            <a:off x="8458200" y="3694176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577072" y="3694176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instance UI &amp; API</a:t>
            </a:r>
            <a:endParaRPr lang="en-US" sz="980" dirty="0"/>
          </a:p>
        </p:txBody>
      </p:sp>
      <p:sp>
        <p:nvSpPr>
          <p:cNvPr id="39" name="Shape 34"/>
          <p:cNvSpPr/>
          <p:nvPr/>
        </p:nvSpPr>
        <p:spPr>
          <a:xfrm>
            <a:off x="8458200" y="4133088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577072" y="413308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×N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execute tasks in parallel</a:t>
            </a:r>
            <a:endParaRPr lang="en-US" sz="980" dirty="0"/>
          </a:p>
        </p:txBody>
      </p:sp>
      <p:sp>
        <p:nvSpPr>
          <p:cNvPr id="41" name="Shape 36"/>
          <p:cNvSpPr/>
          <p:nvPr/>
        </p:nvSpPr>
        <p:spPr>
          <a:xfrm>
            <a:off x="8458200" y="4572000"/>
            <a:ext cx="2999232" cy="36576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577072" y="45720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sidecar  </a:t>
            </a:r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pulls approved DAG code</a:t>
            </a:r>
            <a:endParaRPr lang="en-US" sz="980" dirty="0"/>
          </a:p>
        </p:txBody>
      </p:sp>
      <p:sp>
        <p:nvSpPr>
          <p:cNvPr id="43" name="Shape 38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82296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22960" y="5650992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Celery broker</a:t>
            </a:r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task queue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DB</a:t>
            </a:r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state &amp; history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dbt transformation target   ·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forwarders</a:t>
            </a:r>
            <a:pPr indent="0" marL="0">
              <a:buNone/>
            </a:pPr>
            <a:r>
              <a:rPr lang="en-US" sz="115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ship to Splunk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EXECUTION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CeleryExecutor on Kubernetes — parallel and sequential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sequential runs can't meet batch SLAs; uncontrolled parallelism breaks dependency order and overloads Oracle.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21792"/>
          </a:xfrm>
          <a:prstGeom prst="roundRect">
            <a:avLst>
              <a:gd name="adj" fmla="val 10294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fans independent tasks across worker pods while dependencies and pools enforce order where it matters.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475488" cy="47548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02" y="2505822"/>
            <a:ext cx="218724" cy="2187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25786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each DAG and pushes ready tasks to the queue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2743200" y="2962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236976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3401568"/>
            <a:ext cx="475488" cy="47548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2" y="352995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broker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371600" y="36027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queue — hand-off between scheduling and execution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2743200" y="39867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4261104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4425696"/>
            <a:ext cx="475488" cy="475488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4554078"/>
            <a:ext cx="218724" cy="2187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Celery worker pods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371600" y="46268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 pull tasks concurrently; scale workers to scale throughput</a:t>
            </a:r>
            <a:endParaRPr lang="en-US" sz="960" dirty="0"/>
          </a:p>
        </p:txBody>
      </p:sp>
      <p:sp>
        <p:nvSpPr>
          <p:cNvPr id="25" name="Text 20"/>
          <p:cNvSpPr/>
          <p:nvPr/>
        </p:nvSpPr>
        <p:spPr>
          <a:xfrm>
            <a:off x="2743200" y="5010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48640" y="5285232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5449824"/>
            <a:ext cx="475488" cy="47548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5578206"/>
            <a:ext cx="218724" cy="2187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5376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371600" y="56509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tasks push transformation SQL down to the database</a:t>
            </a:r>
            <a:endParaRPr lang="en-US" sz="960" dirty="0"/>
          </a:p>
        </p:txBody>
      </p:sp>
      <p:sp>
        <p:nvSpPr>
          <p:cNvPr id="31" name="Shape 25"/>
          <p:cNvSpPr/>
          <p:nvPr/>
        </p:nvSpPr>
        <p:spPr>
          <a:xfrm>
            <a:off x="5806440" y="2212848"/>
            <a:ext cx="5833872" cy="1828800"/>
          </a:xfrm>
          <a:prstGeom prst="roundRect">
            <a:avLst>
              <a:gd name="adj" fmla="val 4500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062472" y="2414016"/>
            <a:ext cx="475488" cy="475488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854" y="2542398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84264" y="2432304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execution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6062472" y="2980944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in a DAG fan out simultaneously across the Celery worker pods.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6099048" y="3291840"/>
            <a:ext cx="52486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concurrency: each pod runs multiple task slots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worker pods to scale total parallelism horizontally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loading and transforming many tables at once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806440" y="4242816"/>
            <a:ext cx="58338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62472" y="4443984"/>
            <a:ext cx="475488" cy="47548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854" y="4572366"/>
            <a:ext cx="218724" cy="21872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84264" y="446227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execution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6062472" y="5010912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enforced wherever correctness demands it — dependencies always win.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099048" y="5321808"/>
            <a:ext cx="52486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dependencies (upstream → downstream) gate each step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and max_active_runs serialize critical paths (e.g. Oracle load windows)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dbt layers run strictly in order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DAG can run 20 loads in parallel yet still guarantee Silver never starts before Bronze finishes.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CI/CD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Jenkins pipelines run the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built environments, hand-run checks, and ad-hoc deployments create drift, delays, and unmanaged risk.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automates the platform itself — the runtime image, developer spaces, and every quality gate.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8280" y="2304288"/>
            <a:ext cx="358444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0888" y="2596896"/>
            <a:ext cx="658368" cy="65836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647" y="2774655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5560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0888" y="34747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image generation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0888" y="4242816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certifies the Airflow + dbt runtime image used by every workbench, worker, and pipeline — refreshed quarterly by CP Engineering.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03624" y="2304288"/>
            <a:ext cx="358444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6232" y="2596896"/>
            <a:ext cx="658368" cy="65836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91" y="2774655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00904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96232" y="34747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space provisioning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596232" y="4242816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each developer’s Airflow + dbt workbench on the ODH platform — StatefulSet, storage, and IDE, ready in minutes.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98968" y="2304288"/>
            <a:ext cx="358444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91576" y="2596896"/>
            <a:ext cx="658368" cy="658368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335" y="2774655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96248" y="27432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491576" y="34747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quality gates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491576" y="4242816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quality checks, schema validation, transformation quality tests, and performance benchmarks on every pull request.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on the next three slides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JENKINS PIPELINE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image generation — the quarterly image factory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installing their own libraries causes version drift, security exposure, and “works on my machine” failures.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certified image — built, scanned, and smoke-tested by pipeline — used identically in dev, CI, and QC execution.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43230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" y="241401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hardened 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8950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UBI9 base image pulled from the internal registry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540203" y="284378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14523" y="228600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79115" y="243230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2979115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8027" y="241401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toolchain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7403" y="288950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Airflow, dbt + Oracle adapter, Oracle client, code-server, pinned Python libs from Nexus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806086" y="284378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80406" y="228600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44998" y="243230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5244998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3910" y="241401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3286" y="288950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and policy checks on the built image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071970" y="284378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346290" y="228600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10882" y="243230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751088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49794" y="241401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29170" y="288950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the image; verify Airflow, dbt, and Oracle connectivity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337853" y="284378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12173" y="228600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76765" y="2432304"/>
            <a:ext cx="365760" cy="365760"/>
          </a:xfrm>
          <a:prstGeom prst="ellipse">
            <a:avLst/>
          </a:prstGeom>
          <a:solidFill>
            <a:srgbClr val="B9975B"/>
          </a:solidFill>
          <a:ln/>
        </p:spPr>
      </p:sp>
      <p:sp>
        <p:nvSpPr>
          <p:cNvPr id="34" name="Text 32"/>
          <p:cNvSpPr/>
          <p:nvPr/>
        </p:nvSpPr>
        <p:spPr>
          <a:xfrm>
            <a:off x="9776765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15677" y="241401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 &amp; push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95053" y="288950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as the certified quarterly release and push to the registry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617720"/>
            <a:ext cx="402336" cy="40233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463040" y="45994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certified image, three consumers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14400" y="50932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ODH developer workbenches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libraries developers code against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Celery workers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runtime executing production DAGs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validation runs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tests run in the exact image that will execute the code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48640" y="605332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every 3 months — patched, scanned, and version-aligned across the entire platform.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JENKINS PIPELINE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space provisioning on the ODH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 a dev environment took tickets, manual installs, and days of waiting — and no two setups matched.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Jenkins pipeline provisions an identical, isolated Airflow + dbt workbench on ODH in minutes — no infrastructure tickets.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intake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or team lead triggers the pipeline with user ID and team parameters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540203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14523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79115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2979115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8027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StatefulSet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7403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StatefulSet and PVC storage created on the ODH cluster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806086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80406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44998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5244998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3910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 certified image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3286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boots from the current quarterly image — Airflow, dbt, code-server included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071970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346290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10882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7510882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49794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Git &amp; configs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29170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profiles.yml, Oracle connections, and Nexus access configured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337853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12173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76765" y="2386584"/>
            <a:ext cx="365760" cy="365760"/>
          </a:xfrm>
          <a:prstGeom prst="ellipse">
            <a:avLst/>
          </a:prstGeom>
          <a:solidFill>
            <a:srgbClr val="B9975B"/>
          </a:solidFill>
          <a:ln/>
        </p:spPr>
      </p:sp>
      <p:sp>
        <p:nvSpPr>
          <p:cNvPr id="34" name="Text 32"/>
          <p:cNvSpPr/>
          <p:nvPr/>
        </p:nvSpPr>
        <p:spPr>
          <a:xfrm>
            <a:off x="9776765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15677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95053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opens VS Code Server in the browser and starts building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6384" y="4498848"/>
            <a:ext cx="457200" cy="457200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4622292"/>
            <a:ext cx="210312" cy="21031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371600" y="45171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developer gets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41248" y="5010912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VS Code with full Airflow + dbt toolchain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Airflow instance to test DAGs before any commit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that survives restarts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6199632" y="4297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37376" y="4498848"/>
            <a:ext cx="457200" cy="457200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4622292"/>
            <a:ext cx="210312" cy="21031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022592" y="45171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guarantees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6492240" y="5010912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workbench identical — same image, same versions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per developer — no shared-environment conflicts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image refresh applied by re-provisioning, not patching</a:t>
            </a:r>
            <a:endParaRPr lang="en-US" sz="1080" dirty="0"/>
          </a:p>
        </p:txBody>
      </p:sp>
      <p:sp>
        <p:nvSpPr>
          <p:cNvPr id="47" name="Text 43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JENKINS PIPELINE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quality, transformation, and performance 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alone can't reliably catch schema breaks, bad transformations, or performance regressions before QC.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automated gates on every pull request, with an evidence report the team lead approves against.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261518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505456"/>
            <a:ext cx="530352" cy="530352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648651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26464" y="2615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" y="318211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" y="356616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Linting, DAG integrity checks, unit tests, and coding standards on pipeline and model code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36392" y="318211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438144" y="2267712"/>
            <a:ext cx="261518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75888" y="2505456"/>
            <a:ext cx="530352" cy="530352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083" y="2648651"/>
            <a:ext cx="243962" cy="2439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15968" y="2615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75888" y="318211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validation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75888" y="356616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target contracts verified — columns, types, and constraints match expectations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025896" y="318211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327648" y="2267712"/>
            <a:ext cx="261518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65392" y="2505456"/>
            <a:ext cx="530352" cy="530352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87" y="2648651"/>
            <a:ext cx="243962" cy="2439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05472" y="2615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65392" y="318211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quality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565392" y="356616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assert business rules: uniqueness, not-null, referential integrity, accepted values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915400" y="318211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9217152" y="2267712"/>
            <a:ext cx="261518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454896" y="2505456"/>
            <a:ext cx="530352" cy="530352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91" y="2648651"/>
            <a:ext cx="243962" cy="2439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094976" y="261518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9454896" y="318211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benchmark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454896" y="356616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row volume, and Oracle resource thresholds — regressions are blocked, not observed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48640" y="484632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065776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26464" y="48463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report → team lead approval.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per gate, coverage, schema diffs, and benchmark numbers in one artifact. The team lead approves against this evidence — and approval is the trigger for auto-deployment (Part 3).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AUTOMATED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Git-sync pods — approved code flows to QC by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deployments are error-prone and unauditable — and nothing stops unapproved code from reaching QC.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63040"/>
            <a:ext cx="5454396" cy="658368"/>
          </a:xfrm>
          <a:prstGeom prst="roundRect">
            <a:avLst>
              <a:gd name="adj" fmla="val 9722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63040"/>
            <a:ext cx="5088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 pods pull only the approved release branch into QC automatically — deployment is a merge, with a full audit trail.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→ merge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approval merges the PR to the protected release branch in GitHub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540203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14523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79115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2979115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8027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Git-sync detects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7403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git-sync sidecar pod polls the release branch and pulls the new commit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806086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80406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44998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5244998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3910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volume update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3286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and dbt models land on the volume mounted by scheduler and workers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071970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346290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10882" y="2386584"/>
            <a:ext cx="365760" cy="365760"/>
          </a:xfrm>
          <a:prstGeom prst="ellipse">
            <a:avLst/>
          </a:prstGeom>
          <a:solidFill>
            <a:srgbClr val="0A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7510882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49794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picks up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29170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parses the updated DAGs automatically — no restart required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337853" y="2798064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12173" y="2240280"/>
            <a:ext cx="2028139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76765" y="2386584"/>
            <a:ext cx="365760" cy="365760"/>
          </a:xfrm>
          <a:prstGeom prst="ellipse">
            <a:avLst/>
          </a:prstGeom>
          <a:solidFill>
            <a:srgbClr val="B9975B"/>
          </a:solidFill>
          <a:ln/>
        </p:spPr>
      </p:sp>
      <p:sp>
        <p:nvSpPr>
          <p:cNvPr id="34" name="Text 32"/>
          <p:cNvSpPr/>
          <p:nvPr/>
        </p:nvSpPr>
        <p:spPr>
          <a:xfrm>
            <a:off x="9776765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15677" y="2368296"/>
            <a:ext cx="12783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QC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95053" y="2843784"/>
            <a:ext cx="1662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on the next schedule in the production-ready environment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6384" y="4498848"/>
            <a:ext cx="457200" cy="457200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4622292"/>
            <a:ext cx="210312" cy="21031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371600" y="45171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git-sync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841248" y="5010912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a merge, not a script — nothing to run, nothing to forget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QC instance stays in lockstep with the release branch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revert the commit; git-sync converges within one poll interval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6199632" y="4297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37376" y="4498848"/>
            <a:ext cx="457200" cy="457200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4622292"/>
            <a:ext cx="210312" cy="21031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022592" y="45171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governance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6492240" y="5010912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approved release branch is synced — unreviewed code cannot reach QC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who approved, what merged, when it went live</a:t>
            </a:r>
            <a:endParaRPr lang="en-US" sz="10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mechanism will carry code to production Airflow</a:t>
            </a:r>
            <a:endParaRPr lang="en-US" sz="1080" dirty="0"/>
          </a:p>
        </p:txBody>
      </p:sp>
      <p:sp>
        <p:nvSpPr>
          <p:cNvPr id="47" name="Text 43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and dbt telemetry lands in Splunk and CP 360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454396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9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50886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run fails, teams dig through pods and instances with no single view of what happened at each stage.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85916" y="1444752"/>
            <a:ext cx="5454396" cy="621792"/>
          </a:xfrm>
          <a:prstGeom prst="roundRect">
            <a:avLst>
              <a:gd name="adj" fmla="val 10294"/>
            </a:avLst>
          </a:prstGeom>
          <a:solidFill>
            <a:srgbClr val="0A2240"/>
          </a:solidFill>
          <a:ln/>
        </p:spPr>
      </p:sp>
      <p:sp>
        <p:nvSpPr>
          <p:cNvPr id="7" name="Text 5"/>
          <p:cNvSpPr/>
          <p:nvPr/>
        </p:nvSpPr>
        <p:spPr>
          <a:xfrm>
            <a:off x="6368796" y="1444752"/>
            <a:ext cx="50886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200" kern="0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 </a:t>
            </a:r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stream to Splunk; stage-level run metadata lands in the CP 360 dashboard — health and detail in two panes of glass.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108960" cy="365760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468880"/>
            <a:ext cx="530352" cy="530352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867" y="2612075"/>
            <a:ext cx="243962" cy="2439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5054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sources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3218688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scheduler &amp; task logs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logs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run &amp; test logs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metrics: duration, rows, status per stage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" y="5184648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by every QC Airflow instance and every dbt invocation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033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7033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206240" y="2212848"/>
            <a:ext cx="743407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62272" y="2414016"/>
            <a:ext cx="475488" cy="475488"/>
          </a:xfrm>
          <a:prstGeom prst="ellipse">
            <a:avLst/>
          </a:prstGeom>
          <a:solidFill>
            <a:srgbClr val="0A224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654" y="2542398"/>
            <a:ext cx="218724" cy="2187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84064" y="2432304"/>
            <a:ext cx="633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Splunk — operational monitoring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17136" y="2889504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forwarders ship Airflow and dbt logs from every pod in near real time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failures, retries, SLA misses, and queue depth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routes issues to the owning team before users notice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206240" y="4151376"/>
            <a:ext cx="7434072" cy="1737360"/>
          </a:xfrm>
          <a:prstGeom prst="roundRect">
            <a:avLst>
              <a:gd name="adj" fmla="val 4737"/>
            </a:avLst>
          </a:prstGeom>
          <a:solidFill>
            <a:srgbClr val="0A2240"/>
          </a:solidFill>
          <a:ln/>
          <a:effectLst>
            <a:outerShdw sx="100000" sy="100000" kx="0" ky="0" algn="bl" rotWithShape="0" blurRad="101600" dist="25400" dir="5400000">
              <a:srgbClr val="0A224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62272" y="4352544"/>
            <a:ext cx="475488" cy="475488"/>
          </a:xfrm>
          <a:prstGeom prst="ellipse">
            <a:avLst/>
          </a:prstGeom>
          <a:solidFill>
            <a:srgbClr val="B9975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654" y="4480926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84064" y="4370832"/>
            <a:ext cx="6336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360 dashboard — stage-level run metadata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4517136" y="4828032"/>
            <a:ext cx="6812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metrics stored in the Oracle-based CP 360 metadata store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what happened at each stage: task, timing, rows, outcome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lineage — click from a failed run to every impacted downstream object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answers “is it healthy?”  </a:t>
            </a:r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360 answers “what exactly did it do?” — together, complete visibility of every stage of every run.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48640" y="6455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Brothers Harriman  ·  Capital Partners Technology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4574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2026-07-20T12:30:07Z</dcterms:created>
  <dcterms:modified xsi:type="dcterms:W3CDTF">2026-07-20T12:30:07Z</dcterms:modified>
</cp:coreProperties>
</file>